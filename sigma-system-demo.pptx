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457200" cy="73152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The Sigma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CCDDE8"/>
                </a:solidFill>
                <a:latin typeface="Calibri"/>
              </a:rPr>
              <a:t>How a multi-agent review actually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5216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9AEBE"/>
                </a:solidFill>
                <a:latin typeface="Calibri"/>
              </a:rPr>
              <a:t>AI Guild · Engineering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Make the wrong choice impossible.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Most LLM tool-use is probabilistic. 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The agent gets a list of tools and guesses which one fits.</a:t>
            </a:r>
          </a:p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A1A"/>
                </a:solidFill>
                <a:latin typeface="Calibri"/>
              </a:rPr>
              <a:t>Sigma flips that. The agent starts with </a:t>
            </a:r>
            <a:r>
              <a:rPr sz="1900" b="1" i="0">
                <a:solidFill>
                  <a:srgbClr val="1A1A1A"/>
                </a:solidFill>
                <a:latin typeface="Calibri"/>
              </a:rPr>
              <a:t>one gateway tool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. Every response tells it </a:t>
            </a:r>
          </a:p>
          <a:p>
            <a:pPr algn="l">
              <a:lnSpc>
                <a:spcPct val="140000"/>
              </a:lnSpc>
            </a:pPr>
            <a:r>
              <a:rPr sz="1900" b="0" i="1">
                <a:solidFill>
                  <a:srgbClr val="1A1A1A"/>
                </a:solidFill>
                <a:latin typeface="Calibri"/>
              </a:rPr>
              <a:t>exactly</a:t>
            </a:r>
            <a:r>
              <a:rPr sz="1900" b="0" i="0">
                <a:solidFill>
                  <a:srgbClr val="1A1A1A"/>
                </a:solidFill>
                <a:latin typeface="Calibri"/>
              </a:rPr>
              <a:t> which actions are valid right now. The server decides what's valid — </a:t>
            </a:r>
            <a:r>
              <a:rPr sz="1900" b="1" i="0">
                <a:solidFill>
                  <a:srgbClr val="1F6B8A"/>
                </a:solidFill>
                <a:latin typeface="Calibri"/>
              </a:rPr>
              <a:t>not the LLM.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350520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3505200" cy="73152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13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2C4A"/>
                </a:solidFill>
                <a:latin typeface="Consolas"/>
              </a:rPr>
              <a:t>hateoas-agent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3,354 LOC · 452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Declarative state machines.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agent never sees invalid actions.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8160" y="3840480"/>
            <a:ext cx="350520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8160" y="3840480"/>
            <a:ext cx="3505200" cy="73152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1040" y="4023360"/>
            <a:ext cx="313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2C4A"/>
                </a:solidFill>
                <a:latin typeface="Consolas"/>
              </a:rPr>
              <a:t>sigma-mem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40" y="443484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memory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1040" y="480060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2,672 LOC · 302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52120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Memory retrieval as a state machine.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State-dependent recall.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680" y="3840480"/>
            <a:ext cx="350520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7680" y="3840480"/>
            <a:ext cx="3505200" cy="73152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0560" y="4023360"/>
            <a:ext cx="313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2C4A"/>
                </a:solidFill>
                <a:latin typeface="Consolas"/>
              </a:rPr>
              <a:t>sigma-verify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443484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verify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4800600"/>
            <a:ext cx="3139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1,776 LOC · 300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0560" y="5212080"/>
            <a:ext cx="313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Stress-test findings against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second model. Quota-aware.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ΣCOMM — COMPRESSED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How the agents talk to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Agents communicate in a compressed notation with three required parts on every message: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0" cy="6400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onsolas"/>
              </a:rPr>
              <a:t>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what the agent ruled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20239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Forces "I considered X but it's not relevant" instead of silent omission.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onsola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7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what the agent can do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97479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Every message advertises the next valid actions — like HATEOAS for prose.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onsolas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checksum of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74720"/>
            <a:ext cx="6583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Receiver verifies it decoded the right number of findings.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Actual peer-correction message from Review 6: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B8A"/>
                </a:solidFill>
                <a:latin typeface="Consolas"/>
              </a:rPr>
              <a:t>tech-architect → product-strategist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64240" cy="128016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404040"/>
                </a:solidFill>
                <a:latin typeface="Consolas"/>
              </a:rPr>
              <a:t>◌ dist/-not-empty: you noted "dist/ directory empty" but it has stale 0.1.0 wheel.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404040"/>
                </a:solidFill>
                <a:latin typeface="Consolas"/>
              </a:rPr>
              <a:t>  Needs rm -rf dist/ before fresh build. Minor correction to your prereq status.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404040"/>
                </a:solidFill>
                <a:latin typeface="Consolas"/>
              </a:rPr>
              <a:t>  |¬ not a new blocker, just a factual correction |→ update prereq note |#1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F6B8A"/>
                </a:solidFill>
                <a:latin typeface="Calibri"/>
              </a:rPr>
              <a:t>Nobody coded peer-correction-with-anti-message. It emerged from the protocol.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SHAPE OF A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A review is a 38-step recipe. Not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6949440" cy="50292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675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6B8A"/>
                </a:solidFill>
                <a:latin typeface="Calibri"/>
              </a:rPr>
              <a:t>Steps 1–24:  produce the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417320"/>
            <a:ext cx="4023360" cy="50292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B470A"/>
                </a:solidFill>
                <a:latin typeface="Calibri"/>
              </a:rPr>
              <a:t>Steps 25–38:  the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11064240" cy="594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7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B8A"/>
                </a:solidFill>
                <a:latin typeface="Calibri"/>
              </a:rPr>
              <a:t>PREFLIGHT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7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Consolas"/>
              </a:rPr>
              <a:t>STEPS 1–9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79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Audit the user's premises before any agent spawns.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1064240" cy="594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2607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B8A"/>
                </a:solidFill>
                <a:latin typeface="Calibri"/>
              </a:rPr>
              <a:t>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2607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Consolas"/>
              </a:rPr>
              <a:t>STEPS 10–17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79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Agents work in parallel. Lead scans for herding.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11064240" cy="594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7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B8A"/>
                </a:solidFill>
                <a:latin typeface="Calibri"/>
              </a:rPr>
              <a:t>ADVERSARIAL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611879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Consolas"/>
              </a:rPr>
              <a:t>STEPS 18–23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611879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Devil's Advocate stress-tests findings round by round.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11064240" cy="594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6B8A"/>
                </a:solidFill>
                <a:latin typeface="Calibri"/>
              </a:rPr>
              <a:t>EXIT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9768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Consolas"/>
              </a:rPr>
              <a:t>STEPS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Lead computes confidence. Pass, loop, or debate.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37760"/>
            <a:ext cx="11064240" cy="594360"/>
          </a:xfrm>
          <a:prstGeom prst="rect">
            <a:avLst/>
          </a:prstGeom>
          <a:solidFill>
            <a:srgbClr val="F2E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B470A"/>
                </a:solidFill>
                <a:latin typeface="Calibri"/>
              </a:rP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983480"/>
            <a:ext cx="1097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A5A5A"/>
                </a:solidFill>
                <a:latin typeface="Consolas"/>
              </a:rPr>
              <a:t>STEPS 25–38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983480"/>
            <a:ext cx="6949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Promote learnings · synthesize · archive · sync.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Each step's output feeds the next.</a:t>
            </a:r>
          </a:p>
          <a:p>
            <a:pPr algn="ctr">
              <a:lnSpc>
                <a:spcPct val="140000"/>
              </a:lnSpc>
            </a:pPr>
            <a:r>
              <a:rPr sz="1300" b="0" i="1">
                <a:solidFill>
                  <a:srgbClr val="5A5A5A"/>
                </a:solidFill>
                <a:latin typeface="Calibri"/>
              </a:rPr>
              <a:t>Skip a step and the chain breaks — even if every other item is technically present.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PREFLIGHT · STEPS 1–9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Before any agent spawns, audit the user's premises.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Steps 1–7 are housekeeping: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memory recall, system check, roster load, complexity tier, semantic routing, user confirmation.</a:t>
            </a:r>
          </a:p>
          <a:p>
            <a:pPr algn="l">
              <a:lnSpc>
                <a:spcPct val="135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42C4A"/>
                </a:solidFill>
                <a:latin typeface="Calibri"/>
              </a:rPr>
              <a:t>Step 7a is the one that's unique to Sigma.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97480"/>
            <a:ext cx="11064240" cy="3017520"/>
          </a:xfrm>
          <a:prstGeom prst="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137160" cy="301752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The lead must answer four questions about the user's prompt — alone — before spawning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B8A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Is the proposed framework actually necessary, or would a simpler structure 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B8A"/>
                </a:solidFill>
                <a:latin typeface="Calibri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03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is the minimum viable scope? (State it explicitly.)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B8A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data must exist for the findings to be actionable?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6B8A"/>
                </a:solidFill>
                <a:latin typeface="Calibri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How does this compare to the relevant historical base rate?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B02A2A"/>
                </a:solidFill>
                <a:latin typeface="Calibri"/>
              </a:rPr>
              <a:t>If any question is challenged or has a gap → revise scope BEFORE spawning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8932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Why answer alone? Otherwise the lead anchors on the user's framing before it's been tested.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A missing premise-audit section is a chain-evaluator BLOCK — the run cannot proceed.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RESEARCH ROUND · STEPS 10–17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R1: agents work in parallel. Then check for herding.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Each agent researches the task independently in their own workspace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6B8A"/>
                </a:solidFill>
                <a:latin typeface="Calibri"/>
              </a:rPr>
              <a:t>EVERY FINDING IS TAGGED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Source.  Did this come from independent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research, agent inference, or an echo of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user's prompt?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Evidence quality.  Primary source · reputable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secondary · or just inference.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Counter-argument.  Top findings include a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5-step argument against the agent's own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conclusion (dialectical bootstrapping).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65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02A2A"/>
                </a:solidFill>
                <a:latin typeface="Calibri"/>
              </a:rPr>
              <a:t>THEN: ZERO-DISSENT CIRCUIT BREAKER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331720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every agent agrees with every other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agent on every finding — that's a herding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signal, not consensus.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Lead sends each agent a self-challenge: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·  Name the strongest argument against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   your own position.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·  Identify one peer finding you'd challenge.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·  Name a blind spot you might have.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Why the circuit breaker exists: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Seven consecutive prior reviews produced zero dissent in R1. Independent domain experts producing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0 disagreements across 50–70 findings is a herding pattern. Self-challenge before adversarial pressure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produces more genuine analytical tension than waiting for the Devil's Advocate to apply it externally.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ADVERSARIAL ROUND · STEPS 18–23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The Devil's Advocate stress-tests every claim.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DA runs on a stronger model (opus); the rest of the team runs on sonnet. 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It reads R1 findings first,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then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researches counter-evidence — so it doesn't anchor on its own pre-research.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C4A"/>
                </a:solidFill>
                <a:latin typeface="Calibri"/>
              </a:rPr>
              <a:t>Every challenge gets one of three responses, with evidence: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2011680" cy="4114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CONCEDE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443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Calibri"/>
              </a:rPr>
              <a:t>the challenge is correct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4728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Calibri"/>
              </a:rPr>
              <a:t>the original finding holds — here's 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2011680" cy="4114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862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onsolas"/>
              </a:rPr>
              <a:t>COMPROMISE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5020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Calibri"/>
              </a:rPr>
              <a:t>partial agreement — refined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42C4A"/>
                </a:solidFill>
                <a:latin typeface="Calibri"/>
              </a:rPr>
              <a:t>On high-confidence findings (&gt;70%), DA requires three additional answers: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292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6B8A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074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How would you know if you're wrong?  (Falsifiability)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6B8A"/>
                </a:solidFill>
                <a:latin typeface="Calibr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486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What's the strongest opposing view, and why does it fail?  (Steelman)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5216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6B8A"/>
                </a:solidFill>
                <a:latin typeface="Calibri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What evidence would push your confidence to 90%?  (Confidence gap)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5A5A"/>
                </a:solidFill>
                <a:latin typeface="Calibri"/>
              </a:rPr>
              <a:t>DA checks each answer: is the falsification condition reachable? Is the steelman real or strawman? Is the missing evidence obtainable?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EXIT GATE · STEP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DA decides when synthesis can start. Not the lead.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Nine criteria. All must hold for PASS. Grouped into four categories: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37160" cy="96012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2C4A"/>
                </a:solidFill>
                <a:latin typeface="Calibri"/>
              </a:rPr>
              <a:t>Engagement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agent responded substantively. No material disagreement left unresolved.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137160" cy="96012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2C4A"/>
                </a:solidFill>
                <a:latin typeface="Calibri"/>
              </a:rPr>
              <a:t>Process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Source provenance tagged on every finding. Prompt contamination below 30%. No new consensus formed without stress-test.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137160" cy="96012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2C4A"/>
                </a:solidFill>
                <a:latin typeface="Calibri"/>
              </a:rPr>
              <a:t>High-confidence findings stress-tested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056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Each one passed the three structural questions: falsifiability, steelman, confidence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37160" cy="96012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2C4A"/>
                </a:solidFill>
                <a:latin typeface="Calibri"/>
              </a:rPr>
              <a:t>Cross-model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sigma-verify is online, load-bearing findings were checked against a second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263640"/>
            <a:ext cx="11064240" cy="50292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10698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FAIL specifies which criteria failed and what the next round must address. The lead can't override.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STEP 24 · THE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A Bayesian gate decides whether to exit.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After each round, the lead computes a confidence number (a posterior probability) for the team's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Four routes out of the round: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37160" cy="6400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High confidence  +  DA approves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889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Exit to outcome delivery (Steps 25 onward).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137160" cy="640080"/>
          </a:xfrm>
          <a:prstGeom prst="rect">
            <a:avLst/>
          </a:prstGeom>
          <a:solidFill>
            <a:srgbClr val="8A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Medium confidence  OR  DA rejects   (round &lt;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661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Run another challenge round.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137160" cy="6400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Low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43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Structured debate (claim · grounds · warrant · rebuttal), then re-evaluate.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74920"/>
            <a:ext cx="137160" cy="6400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20640"/>
            <a:ext cx="6217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Round 5 reached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1206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Calibri"/>
              </a:rPr>
              <a:t>Hard cap. Proceed regardless. Unresolved items logged as deliberate divergence.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05332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Divergence floor: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if the team's stated confidence differs from the computed posterior by more than 15 points,</a:t>
            </a:r>
          </a:p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CCDDE8"/>
                </a:solidFill>
                <a:latin typeface="Calibri"/>
              </a:rPr>
              <a:t>the gap must be justified in writing. Agents can't quietly disagree with the math.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PEER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Every agent verifies a peer. The DA verifies everyone.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664656" y="482901"/>
            <a:ext cx="3399814" cy="2464467"/>
          </a:xfrm>
          <a:prstGeom prst="line">
            <a:avLst/>
          </a:prstGeom>
          <a:ln w="19050">
            <a:solidFill>
              <a:srgbClr val="1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-253876" y="781350"/>
            <a:ext cx="5234463" cy="3422834"/>
          </a:xfrm>
          <a:prstGeom prst="line">
            <a:avLst/>
          </a:prstGeom>
          <a:ln w="19050">
            <a:solidFill>
              <a:srgbClr val="1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-821560" y="0"/>
            <a:ext cx="4889940" cy="5463840"/>
          </a:xfrm>
          <a:prstGeom prst="line">
            <a:avLst/>
          </a:prstGeom>
          <a:ln w="19050">
            <a:solidFill>
              <a:srgbClr val="1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-253876" y="-781350"/>
            <a:ext cx="2842364" cy="5766885"/>
          </a:xfrm>
          <a:prstGeom prst="line">
            <a:avLst/>
          </a:prstGeom>
          <a:ln w="19050">
            <a:solidFill>
              <a:srgbClr val="1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664656" y="-482901"/>
            <a:ext cx="1921416" cy="3913171"/>
          </a:xfrm>
          <a:prstGeom prst="line">
            <a:avLst/>
          </a:prstGeom>
          <a:ln w="19050">
            <a:solidFill>
              <a:srgbClr val="1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200400" y="2194559"/>
            <a:ext cx="914400" cy="914400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59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tech-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architect</a:t>
            </a:r>
          </a:p>
        </p:txBody>
      </p:sp>
      <p:sp>
        <p:nvSpPr>
          <p:cNvPr id="12" name="Oval 11"/>
          <p:cNvSpPr/>
          <p:nvPr/>
        </p:nvSpPr>
        <p:spPr>
          <a:xfrm>
            <a:off x="4678798" y="3268679"/>
            <a:ext cx="914400" cy="914400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798" y="3268679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product-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strategist</a:t>
            </a:r>
          </a:p>
        </p:txBody>
      </p:sp>
      <p:sp>
        <p:nvSpPr>
          <p:cNvPr id="14" name="Oval 13"/>
          <p:cNvSpPr/>
          <p:nvPr/>
        </p:nvSpPr>
        <p:spPr>
          <a:xfrm>
            <a:off x="4114100" y="5006640"/>
            <a:ext cx="914400" cy="914400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100" y="50066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ux-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researcher</a:t>
            </a:r>
          </a:p>
        </p:txBody>
      </p:sp>
      <p:sp>
        <p:nvSpPr>
          <p:cNvPr id="16" name="Oval 15"/>
          <p:cNvSpPr/>
          <p:nvPr/>
        </p:nvSpPr>
        <p:spPr>
          <a:xfrm>
            <a:off x="2286699" y="5006640"/>
            <a:ext cx="914400" cy="914400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699" y="50066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code-quality-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analyst</a:t>
            </a:r>
          </a:p>
        </p:txBody>
      </p:sp>
      <p:sp>
        <p:nvSpPr>
          <p:cNvPr id="18" name="Oval 17"/>
          <p:cNvSpPr/>
          <p:nvPr/>
        </p:nvSpPr>
        <p:spPr>
          <a:xfrm>
            <a:off x="1722001" y="3268679"/>
            <a:ext cx="914400" cy="914400"/>
          </a:xfrm>
          <a:prstGeom prst="ellipse">
            <a:avLst/>
          </a:prstGeom>
          <a:solidFill>
            <a:srgbClr val="F6F8FB"/>
          </a:solidFill>
          <a:ln w="12700">
            <a:solidFill>
              <a:srgbClr val="1F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22001" y="3268679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technical-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42C4A"/>
                </a:solidFill>
                <a:latin typeface="Consolas"/>
              </a:rPr>
              <a:t>writer</a:t>
            </a:r>
          </a:p>
        </p:txBody>
      </p:sp>
      <p:sp>
        <p:nvSpPr>
          <p:cNvPr id="20" name="Oval 19"/>
          <p:cNvSpPr/>
          <p:nvPr/>
        </p:nvSpPr>
        <p:spPr>
          <a:xfrm>
            <a:off x="3200400" y="3749039"/>
            <a:ext cx="914400" cy="914400"/>
          </a:xfrm>
          <a:prstGeom prst="ellipse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749039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</a:rPr>
              <a:t>DA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0" y="-548640"/>
            <a:ext cx="3657600" cy="4251960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521787" y="-169539"/>
            <a:ext cx="3614118" cy="4220368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22482" y="443859"/>
            <a:ext cx="3630726" cy="4169251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-322482" y="443859"/>
            <a:ext cx="3684473" cy="4169251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-521787" y="-169539"/>
            <a:ext cx="3701081" cy="4220368"/>
          </a:xfrm>
          <a:prstGeom prst="line">
            <a:avLst/>
          </a:prstGeom>
          <a:ln w="95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89520" y="1417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830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 Each agent verifies the next agent in the ring.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2402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 The DA (center) verifies everyone.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69748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 Every agent ends up verified by at least two others.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91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 Verification must cite at least three specific findings from the verified agent's section — not "looks good."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8862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·  Each item gets a verdict: PASS · FAIL · N/A — with evidence.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5A5A"/>
                </a:solidFill>
                <a:latin typeface="Calibri"/>
              </a:rPr>
              <a:t>The verification format is checked by a regex at session end. Wrong heading level or wrong verb → the chain fails.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CHAIN EVALUATOR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19 automated checks at session 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Before a review counts as complete, a script verifies the workspace produced every required artifact.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37160" cy="8686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7627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Did agents do real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7627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3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Findings are non-empty · sources are tagged · counter-arguments exist.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63239"/>
            <a:ext cx="110642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137160" cy="8686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3639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Was the challenge process complete?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136391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4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39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Circuit breaker fired · DA challenged · responses recorded · confidence number written.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59"/>
            <a:ext cx="110642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23359"/>
            <a:ext cx="137160" cy="8686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9651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Did the hygiene checks fire?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096511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4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80559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Exit-gate ran · contamination scanned · sycophancy scanned · cross-model verification noted.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79"/>
            <a:ext cx="110642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83479"/>
            <a:ext cx="137160" cy="868680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5663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Was the output properly delivered?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056631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onsolas"/>
              </a:rPr>
              <a:t>8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79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5A5A5A"/>
                </a:solidFill>
                <a:latin typeface="Calibri"/>
              </a:rPr>
              <a:t>Synthesis archived · workspace archived · learnings promoted · git clean · peer verifications complete · evaluator wrote its own output.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F6B8A"/>
                </a:solidFill>
                <a:latin typeface="Calibri"/>
              </a:rPr>
              <a:t>If anything fails, the chain is incomplete. The evaluator's own output is itself one of the 19 — its absence is a failure.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6B8A"/>
                </a:solidFill>
                <a:latin typeface="Calibri"/>
              </a:rPr>
              <a:t>THE OUTCOME CHAIN · STEPS 25–38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42C4A"/>
                </a:solidFill>
                <a:latin typeface="Calibri"/>
              </a:rPr>
              <a:t>What happens after the analysis is done.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FFFFFF"/>
                </a:solidFill>
                <a:latin typeface="Calibri"/>
              </a:rPr>
              <a:t>“The analysis is the OUTPUT. Promotion, archive, synthesis are the OUTCOME. Output without outcome is worthless.”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Promotion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208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Agents classify what they learned. User approves the high-stakes ones. Approved learnings go into global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70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066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separate agent writes the final report. The lead is forbidden from writing it — that would contaminate it with conversation context.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Wiki 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924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Another separate agent updates cross-review pages with attribution. Flags contradictions with prior reviews.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416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Infrastructure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782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Diff between installed agents and the repo. We've had 12 agent memories drift undetected, once.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091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274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Archive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640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Workspace copied to shared/archive/ with metadata. 59 files and counting.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137160" cy="594360"/>
          </a:xfrm>
          <a:prstGeom prst="rect">
            <a:avLst/>
          </a:prstGeom>
          <a:solidFill>
            <a:srgbClr val="6B4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132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C4A"/>
                </a:solidFill>
                <a:latin typeface="Calibri"/>
              </a:rPr>
              <a:t>Graceful shutdown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449824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Each agent gets a shutdown request. Stragglers auto-time-out after 5 minutes.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1" i="1">
                <a:solidFill>
                  <a:srgbClr val="1F6B8A"/>
                </a:solidFill>
                <a:latin typeface="Calibri"/>
              </a:rPr>
              <a:t>Promotion and sync are the durable value. Skip them and agents start cold every session — same mistakes, every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457200" cy="73152"/>
          </a:xfrm>
          <a:prstGeom prst="rect">
            <a:avLst/>
          </a:prstGeom>
          <a:solidFill>
            <a:srgbClr val="1F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24 steps to produce the analysis.</a:t>
            </a:r>
          </a:p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14 more to make it compound.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572000"/>
            <a:ext cx="1106424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CDDE8"/>
                </a:solidFill>
                <a:latin typeface="Calibri"/>
              </a:rPr>
              <a:t>59 archived reviews  ·  1,054 tests  ·  22 agents on the active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6B8A"/>
                </a:solidFill>
                <a:latin typeface="Consolas"/>
              </a:rPr>
              <a:t>github.com/coloradored13/sigma-system-overview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5A5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
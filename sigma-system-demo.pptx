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457200" cy="73152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The Sigma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CCDDE8"/>
                </a:solidFill>
                <a:latin typeface="Calibri"/>
              </a:rPr>
              <a:t>Persistent, self-sufficient AI agent teams</a:t>
            </a:r>
          </a:p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CCDDE8"/>
                </a:solidFill>
                <a:latin typeface="Calibri"/>
              </a:rPr>
              <a:t>built on deterministic tool discovery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85216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9AEBE"/>
                </a:solidFill>
                <a:latin typeface="Calibri"/>
              </a:rPr>
              <a:t>AI Guild · Engineering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LLMs guess which tool to call.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 i="0">
                <a:solidFill>
                  <a:srgbClr val="1A1A1A"/>
                </a:solidFill>
                <a:latin typeface="Calibri"/>
              </a:rPr>
              <a:t>With 10 tools, this works.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With 100, accuracy collapses.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5A5A5A"/>
                </a:solidFill>
                <a:latin typeface="Calibri"/>
              </a:rPr>
              <a:t>The industry response has been probabilistic: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1188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RAG over tool descriptions</a:t>
            </a:r>
          </a:p>
          <a:p>
            <a:pPr algn="l">
              <a:lnSpc>
                <a:spcPct val="16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Semantic search against the action set</a:t>
            </a:r>
          </a:p>
          <a:p>
            <a:pPr algn="l">
              <a:lnSpc>
                <a:spcPct val="16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More-and-better prompting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596128"/>
            <a:ext cx="10698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Sigma takes a different approach: make the wrong choice impossible.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THE PRINCIPLE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Deterministic state-driven navigation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agent starts with </a:t>
            </a:r>
            <a:r>
              <a:rPr sz="2000" b="1" i="0">
                <a:solidFill>
                  <a:srgbClr val="1A1A1A"/>
                </a:solidFill>
                <a:latin typeface="Calibri"/>
              </a:rPr>
              <a:t>one gateway tool.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1A1A1A"/>
                </a:solidFill>
                <a:latin typeface="Calibri"/>
              </a:rPr>
              <a:t>Each response tells it exactly which actions are valid right now.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F6B8A"/>
                </a:solidFill>
                <a:latin typeface="Calibri"/>
              </a:rPr>
              <a:t>The server decides what's valid. Not the LLM.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38912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5A5A5A"/>
                </a:solidFill>
                <a:latin typeface="Calibri"/>
              </a:rPr>
              <a:t>Borrowed from REST API design — HATEOAS (Roy Fielding, 2000).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Applied recursively across the system: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1F6B8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A1A1A"/>
                </a:solidFill>
                <a:latin typeface="Consolas"/>
              </a:rPr>
              <a:t>hateoas-agent</a:t>
            </a:r>
            <a:r>
              <a:rPr sz="1600" b="0" i="0">
                <a:solidFill>
                  <a:srgbClr val="1A1A1A"/>
                </a:solidFill>
                <a:latin typeface="Calibri"/>
              </a:rPr>
              <a:t>  — tool discovery</a:t>
            </a:r>
          </a:p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1F6B8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A1A1A"/>
                </a:solidFill>
                <a:latin typeface="Consolas"/>
              </a:rPr>
              <a:t>sigma-mem</a:t>
            </a:r>
            <a:r>
              <a:rPr sz="1600" b="0" i="0">
                <a:solidFill>
                  <a:srgbClr val="1A1A1A"/>
                </a:solidFill>
                <a:latin typeface="Calibri"/>
              </a:rPr>
              <a:t>       — memory retrieval (recall → state-dependent actions)</a:t>
            </a:r>
          </a:p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1F6B8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A1A1A"/>
                </a:solidFill>
                <a:latin typeface="Consolas"/>
              </a:rPr>
              <a:t>agent teams</a:t>
            </a:r>
            <a:r>
              <a:rPr sz="1600" b="0" i="0">
                <a:solidFill>
                  <a:srgbClr val="1A1A1A"/>
                </a:solidFill>
                <a:latin typeface="Calibri"/>
              </a:rPr>
              <a:t>    — coordination (each agent advertises what they can do next)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HATEOAS in 30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7315200" cy="42062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7040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vm = StateMachine("orders", gateway_name="lookup_order")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vm.action("approve_order",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        from_states=["pending"],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        to_state="approved")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vm.action("ship_order",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        from_states=["approved"],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        to_state="shipped")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vm.action("cancel_order",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        from_states=["pending", "approved"],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        to_state="cancelled")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# Agent calls lookup_order → state="pending"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# Server advertises: [approve_order, cancel_order]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# Agent calls ship_order →  REJECTED. Action not valid for state="pending".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0" y="1463040"/>
            <a:ext cx="3520440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6002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alibri"/>
              </a:rPr>
              <a:t>What the LLM sees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19659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5A5A5A"/>
                </a:solidFill>
                <a:latin typeface="Calibri"/>
              </a:rPr>
              <a:t>After calling the gateway</a:t>
            </a: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5A5A5A"/>
                </a:solidFill>
                <a:latin typeface="Calibri"/>
              </a:rPr>
              <a:t>the response includes</a:t>
            </a: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5A5A5A"/>
                </a:solidFill>
                <a:latin typeface="Calibri"/>
              </a:rPr>
              <a:t>only the actions valid</a:t>
            </a: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5A5A5A"/>
                </a:solidFill>
                <a:latin typeface="Calibri"/>
              </a:rPr>
              <a:t>for the current state.</a:t>
            </a:r>
          </a:p>
          <a:p>
            <a:pPr algn="l">
              <a:lnSpc>
                <a:spcPct val="140000"/>
              </a:lnSpc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Invalid actions are not</a:t>
            </a:r>
          </a:p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returned. The LLM has</a:t>
            </a:r>
          </a:p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nothing to hallucinate.</a:t>
            </a:r>
          </a:p>
          <a:p>
            <a:pPr algn="l">
              <a:lnSpc>
                <a:spcPct val="140000"/>
              </a:lnSpc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State changes →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action set changes.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5A"/>
                </a:solidFill>
                <a:latin typeface="Consolas"/>
              </a:rPr>
              <a:t>github.com/coloradored13/hateoas-agent/blob/main/examples/orders_action_centric.py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THE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Three components, one principle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73152" cy="1417320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2C4A"/>
                </a:solidFill>
                <a:latin typeface="Consolas"/>
              </a:rPr>
              <a:t>hateoas-agent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5544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A5A5A"/>
                </a:solidFill>
                <a:latin typeface="Calibri"/>
              </a:rPr>
              <a:t>Python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5544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6B8A"/>
                </a:solidFill>
                <a:latin typeface="Consolas"/>
              </a:rPr>
              <a:t>3,354 LOC · 452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Declarative state machines, three API styles, MCP adapter, discovery mode, visualization, persistence.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08960"/>
            <a:ext cx="73152" cy="1417320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08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2C4A"/>
                </a:solidFill>
                <a:latin typeface="Consolas"/>
              </a:rPr>
              <a:t>sigma-mem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15467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A5A5A"/>
                </a:solidFill>
                <a:latin typeface="Calibri"/>
              </a:rPr>
              <a:t>Persistent memory (MCP server)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31546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6B8A"/>
                </a:solidFill>
                <a:latin typeface="Consolas"/>
              </a:rPr>
              <a:t>2,672 LOC · 302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Memory retrieval as a HATEOAS state machine. recall(context) → state-dependent actions. All on markdown.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709160"/>
            <a:ext cx="73152" cy="1417320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7091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2C4A"/>
                </a:solidFill>
                <a:latin typeface="Consolas"/>
              </a:rPr>
              <a:t>sigma-verify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7548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A5A5A"/>
                </a:solidFill>
                <a:latin typeface="Calibri"/>
              </a:rPr>
              <a:t>Cross-model verification (MCP server)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7548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6B8A"/>
                </a:solidFill>
                <a:latin typeface="Consolas"/>
              </a:rPr>
              <a:t>1,776 LOC · 300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16636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Stress-test findings against alternative models. Quota-aware — actions disappear when budget exhausts.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A5A5A"/>
                </a:solidFill>
                <a:latin typeface="Calibri"/>
              </a:rPr>
              <a:t>Totals: 7,802 source LOC · 1,054 tests · CI validates every stat in this deck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THE 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ΣComm — compressed agent communication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A5A5A"/>
                </a:solidFill>
                <a:latin typeface="Calibri"/>
              </a:rPr>
              <a:t>PROSE  (35+ tokens)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5486400" cy="19202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222222"/>
                </a:solidFill>
                <a:latin typeface="Consolas"/>
              </a:rPr>
              <a:t>I reviewed the auth module and found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222222"/>
                </a:solidFill>
                <a:latin typeface="Consolas"/>
              </a:rPr>
              <a:t>3 issues: JWT expiry not checked,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222222"/>
                </a:solidFill>
                <a:latin typeface="Consolas"/>
              </a:rPr>
              <a:t>MD5 passwords, no rate limiting.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222222"/>
                </a:solidFill>
                <a:latin typeface="Consolas"/>
              </a:rPr>
              <a:t>Session management and CORS look fine.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08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alibri"/>
              </a:rPr>
              <a:t>ΣComm  (~25 tokens)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257800" cy="19202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920240"/>
            <a:ext cx="49834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✓ auth-review: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jwt-expiry-unchecked(!),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pwd-md5&gt;bcrypt, no-rate-limit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|¬ session-mgmt, cors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|→ fix-jwt(small),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   fix-hash(needs-migration) |#3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10972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Format: </a:t>
            </a:r>
            <a:r>
              <a:rPr sz="1400" b="1" i="0">
                <a:solidFill>
                  <a:srgbClr val="1A1A1A"/>
                </a:solidFill>
                <a:latin typeface="Consolas"/>
              </a:rPr>
              <a:t>[STATUS] BODY |¬ ruled-out |→ actions |#count</a:t>
            </a:r>
          </a:p>
          <a:p>
            <a:pPr algn="l">
              <a:lnSpc>
                <a:spcPct val="150000"/>
              </a:lnSpc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1F6B8A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F6B8A"/>
                </a:solidFill>
                <a:latin typeface="Consolas"/>
              </a:rPr>
              <a:t>¬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 forces agents to declare what they </a:t>
            </a:r>
            <a:r>
              <a:rPr sz="1400" b="0" i="1">
                <a:solidFill>
                  <a:srgbClr val="1A1A1A"/>
                </a:solidFill>
                <a:latin typeface="Calibri"/>
              </a:rPr>
              <a:t>ruled out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 — prevents assumption-based errors</a:t>
            </a:r>
          </a:p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1F6B8A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F6B8A"/>
                </a:solidFill>
                <a:latin typeface="Consolas"/>
              </a:rPr>
              <a:t>→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 HATEOAS-style action advertisement — each message declares what the sender can do next</a:t>
            </a:r>
          </a:p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1F6B8A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F6B8A"/>
                </a:solidFill>
                <a:latin typeface="Consolas"/>
              </a:rPr>
              <a:t>#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 checksum — receiver verifies the right item count was decoded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5A5A"/>
                </a:solidFill>
                <a:latin typeface="Calibri"/>
              </a:rPr>
              <a:t>Same notation, two applications: working memory for a single Claude · inter-agent comms across teams.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ΣCOMM IN THE WILD · REVIEW 6, 2026-03-07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Peer correction emerged from the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6B8A"/>
                </a:solidFill>
                <a:latin typeface="Consolas"/>
              </a:rPr>
              <a:t>tech-architect → product-strategist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219456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107899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◌ dist/-not-empty: you noted "dist/ directory empty" but it has stale 0.1.0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wheel+tarball from pre-change build. .gitignore excludes from git tracking.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Needs rm -rf dist/ before fresh build. Minor correction to your prereq status.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|¬ not a new blocker, just a factual correction |→ update prereq note |#1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 i="0">
                <a:solidFill>
                  <a:srgbClr val="142C4A"/>
                </a:solidFill>
                <a:latin typeface="Calibri"/>
              </a:rPr>
              <a:t>What just happened:</a:t>
            </a:r>
          </a:p>
          <a:p>
            <a:pPr algn="l">
              <a:lnSpc>
                <a:spcPct val="140000"/>
              </a:lnSpc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>One agent caught a peer's factual error, cited evidence, declared what it </a:t>
            </a:r>
            <a:r>
              <a:rPr sz="1500" b="0" i="1">
                <a:solidFill>
                  <a:srgbClr val="1A1A1A"/>
                </a:solidFill>
                <a:latin typeface="Calibri"/>
              </a:rPr>
              <a:t>wasn't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 claiming (</a:t>
            </a:r>
            <a:r>
              <a:rPr sz="1500" b="0" i="0">
                <a:solidFill>
                  <a:srgbClr val="1A1A1A"/>
                </a:solidFill>
                <a:latin typeface="Consolas"/>
              </a:rPr>
              <a:t>¬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), advertised the next action (</a:t>
            </a:r>
            <a:r>
              <a:rPr sz="1500" b="0" i="0">
                <a:solidFill>
                  <a:srgbClr val="1A1A1A"/>
                </a:solidFill>
                <a:latin typeface="Consolas"/>
              </a:rPr>
              <a:t>→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), and checksummed the count (</a:t>
            </a:r>
            <a:r>
              <a:rPr sz="1500" b="0" i="0">
                <a:solidFill>
                  <a:srgbClr val="1A1A1A"/>
                </a:solidFill>
                <a:latin typeface="Consolas"/>
              </a:rPr>
              <a:t>#1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).</a:t>
            </a:r>
          </a:p>
          <a:p>
            <a:pPr algn="l">
              <a:lnSpc>
                <a:spcPct val="140000"/>
              </a:lnSpc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1A1A1A"/>
                </a:solidFill>
                <a:latin typeface="Calibri"/>
              </a:rPr>
              <a:t>Nobody coded peer-correction-with-anti-message. It </a:t>
            </a:r>
            <a:r>
              <a:rPr sz="1500" b="1" i="1">
                <a:solidFill>
                  <a:srgbClr val="1F6B8A"/>
                </a:solidFill>
                <a:latin typeface="Calibri"/>
              </a:rPr>
              <a:t>emerged</a:t>
            </a:r>
            <a:r>
              <a:rPr sz="1500" b="1" i="0">
                <a:solidFill>
                  <a:srgbClr val="1A1A1A"/>
                </a:solidFill>
                <a:latin typeface="Calibri"/>
              </a:rPr>
              <a:t> from the protocol.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22 agents on markdown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 infrastructure. No database. </a:t>
            </a:r>
            <a:r>
              <a:rPr sz="1800" b="1" i="0">
                <a:solidFill>
                  <a:srgbClr val="1F6B8A"/>
                </a:solidFill>
                <a:latin typeface="Calibri"/>
              </a:rPr>
              <a:t>Markdown.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6B8A"/>
                </a:solidFill>
                <a:latin typeface="Calibri"/>
              </a:rPr>
              <a:t>CORE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tech-architect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16352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implementation-engineer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72384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product-strategist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28416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product-designer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84448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ui-ux-engineer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ux-researcher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96512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code-quality-analyst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52544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technical-writer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91456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6B8A"/>
                </a:solidFill>
                <a:latin typeface="Calibri"/>
              </a:rPr>
              <a:t>ADVERSARIAL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57216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devils-advocate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13248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reference-class-analyst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69280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cognitive-decision-scientist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25312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security-specialist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19456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6B8A"/>
                </a:solidFill>
                <a:latin typeface="Calibri"/>
              </a:rPr>
              <a:t>MARKET / REGULATORY DOMAIN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560320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macro-rates-analyst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816352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sanctions-trade-analyst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072384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energy-market-analyst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328416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geopolitical-strategist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584448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portfolio-analyst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840480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regulatory-analyst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096512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tech-industry-analyst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352544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economics-analyst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791456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6B8A"/>
                </a:solidFill>
                <a:latin typeface="Calibri"/>
              </a:rPr>
              <a:t>DYNAMIC SPECIALISTS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157216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regulatory-licensing-specialist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413248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onsolas"/>
              </a:rPr>
              <a:t>·  loan-ops-tech-specialist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5A5A"/>
                </a:solidFill>
                <a:latin typeface="Calibri"/>
              </a:rPr>
              <a:t>+ DA created mid-review when a domain gap is identified · roster growth tracked in agent memory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THE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A sigma-review run: 38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6583680" cy="3200400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6B8A"/>
                </a:solidFill>
                <a:latin typeface="Calibri"/>
              </a:rPr>
              <a:t>STEPS 1–24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42C4A"/>
                </a:solidFill>
                <a:latin typeface="Calibri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20440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Preflight · premise audit · spawn · research round · zero-dissent circuit breaker · adversarial challenge · Bayesian belief computation.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828800"/>
            <a:ext cx="4206240" cy="32004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01168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9A6A10"/>
                </a:solidFill>
                <a:latin typeface="Calibri"/>
              </a:rPr>
              <a:t>STEPS 25–38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377440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6B470A"/>
                </a:solidFill>
                <a:latin typeface="Calibri"/>
              </a:rPr>
              <a:t>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520440"/>
            <a:ext cx="4023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Promotion · separate synthesis agent · wiki compilation · infrastructure sync · archive · graceful shutdown.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486400"/>
            <a:ext cx="11064240" cy="914400"/>
          </a:xfrm>
          <a:prstGeom prst="rect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106984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“The analysis is the OUTPUT. Promotion, archive, synthesis are the OUTCOME.</a:t>
            </a:r>
          </a:p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Output without outcome is worthless.”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5A5A5A"/>
                </a:solidFill>
                <a:latin typeface="Calibri"/>
              </a:rPr>
              <a:t>— sigma-build/SKILL.md, line 105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STEPS 1–9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Preflight: "is this even safe to spawn agents on?"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02920" cy="384048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02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57276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onsolas"/>
              </a:rPr>
              <a:t>Memory recall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591056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Prior calibration · decisions · patterns for this domain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502920" cy="384048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502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02996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onsolas"/>
              </a:rPr>
              <a:t>System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048256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Team infra intact before token spend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468880"/>
            <a:ext cx="502920" cy="384048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468880"/>
            <a:ext cx="502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48716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onsolas"/>
              </a:rPr>
              <a:t>Sigma-verify availability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505456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Gates whether XVERIFY is mandatory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26080"/>
            <a:ext cx="502920" cy="384048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926080"/>
            <a:ext cx="502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94436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onsolas"/>
              </a:rPr>
              <a:t>Read roster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962656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Load the 22-agent roster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383280"/>
            <a:ext cx="502920" cy="384048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383280"/>
            <a:ext cx="502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40156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onsolas"/>
              </a:rPr>
              <a:t>Complexity assessment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419856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5 factors × 1-5 → TIER-1/2/3 → team size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40480"/>
            <a:ext cx="502920" cy="384048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840480"/>
            <a:ext cx="502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85876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onsolas"/>
              </a:rPr>
              <a:t>Semantic route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3877056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Match task to agent wake-for fields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297680"/>
            <a:ext cx="502920" cy="384048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297680"/>
            <a:ext cx="502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31596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onsolas"/>
              </a:rPr>
              <a:t>User confirmation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4334256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Plain-English plan, user approves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754880"/>
            <a:ext cx="502920" cy="384048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754880"/>
            <a:ext cx="502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7a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77316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PREMISE AUDIT (HARD GATE)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4791456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PA[1-4] tier · scope · data · base-rate · lead answers from prompt ALONE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212080"/>
            <a:ext cx="502920" cy="384048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212080"/>
            <a:ext cx="502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8720" y="523036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Prompt understanding (HARD GATE)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0" y="5248656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Extract Q[] H[] C[], user confirms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669280"/>
            <a:ext cx="502920" cy="384048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669280"/>
            <a:ext cx="502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568756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onsolas"/>
              </a:rPr>
              <a:t>Cost estimate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52160" y="5705856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Honest token projection before spawn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STEPS 10–17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Spawn + research 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02920" cy="411480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02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59105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Initialize scratch workspace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609344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Task · scope · decomposition · agent sections · peer-verify 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502920" cy="411480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502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09397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Spawn agents via TeamCreate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112264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Parallel boot: role · expertise · paths · ΣComm protocol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502920" cy="411480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60320"/>
            <a:ext cx="502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59689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Verify spawn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615184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All agents booted + acknowledged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63239"/>
            <a:ext cx="502920" cy="411480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063239"/>
            <a:ext cx="502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099815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Monitor progress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118103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Convergence: ◌ / ? / ! / ✓ per agent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566159"/>
            <a:ext cx="502920" cy="411480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566159"/>
            <a:ext cx="502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602735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Pre-accept verification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621023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Findings non-empty + agent memory persisted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069079"/>
            <a:ext cx="502920" cy="411480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069079"/>
            <a:ext cx="502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105655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XVERIFY coverage 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123943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If sigma-verify online, every load-bearing finding tagged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571999"/>
            <a:ext cx="502920" cy="411480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571999"/>
            <a:ext cx="502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08575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Wait for all plan-track agents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4626863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Hard gate before moving 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74919"/>
            <a:ext cx="502920" cy="411480"/>
          </a:xfrm>
          <a:prstGeom prst="rect">
            <a:avLst/>
          </a:prstGeom>
          <a:solidFill>
            <a:srgbClr val="B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074919"/>
            <a:ext cx="502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5111495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Cross-agent coherence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5129783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02A2A"/>
                </a:solidFill>
                <a:latin typeface="Calibri"/>
              </a:rPr>
              <a:t>DOCUMENTED FAILURE: lead called zero-dissent "strong convergence"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989320"/>
            <a:ext cx="11064240" cy="502920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6035040"/>
            <a:ext cx="10698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B02A2A"/>
                </a:solidFill>
                <a:latin typeface="Calibri"/>
              </a:rPr>
              <a:t>Pattern observed across 7 consecutive prior reviews. Step 17 now flags zero-dissent as warning, not green light.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STEPS 18–23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Adversarial round: DA controls synthesis timing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02920" cy="548640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59105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Spawn DA (opus)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09344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DA reads R1, NOW researches counter-evidence (anti-anchoring)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94560"/>
            <a:ext cx="502920" cy="548640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94560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2311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DA challenge 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249424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DA writes DA[#N] challenges; agents respond: concede | defend | compromise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834639"/>
            <a:ext cx="502920" cy="548640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834639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871215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Zero-dissent circuit breaker (MANDATORY)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889503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Self-challenge if R1 had zero divergence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74720"/>
            <a:ext cx="502920" cy="548640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74720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51129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Validate circuit breaker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529584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≥1 genuine revision + ≥2 peer challenges, or fails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114800"/>
            <a:ext cx="502920" cy="548640"/>
          </a:xfrm>
          <a:prstGeom prst="rect">
            <a:avLst/>
          </a:prstGeom>
          <a:solidFill>
            <a:srgbClr val="B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114800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1513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Plan-track responds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4169663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02A2A"/>
                </a:solidFill>
                <a:latin typeface="Calibri"/>
              </a:rPr>
              <a:t>SESSION-KILLER: lead must NOT route, filter, summarize between agents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754880"/>
            <a:ext cx="502920" cy="548640"/>
          </a:xfrm>
          <a:prstGeom prst="rect">
            <a:avLst/>
          </a:prstGeom>
          <a:solidFill>
            <a:srgbClr val="E5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754880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2C4A"/>
                </a:solidFill>
                <a:latin typeface="Calibri"/>
              </a:rPr>
              <a:t>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79145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Validate challenge round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4809744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Every agent has DA-response section, every challenge addressed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603504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B02A2A"/>
                </a:solidFill>
                <a:latin typeface="Calibri"/>
              </a:rPr>
              <a:t>2026-04-16: user killed a 3-hour multi-model-chatroom build session because the lead routed content between agents at Step 22.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STEP 24 · BELIEF STATE (HARD GATE)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The exit gate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64240" cy="7772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>
                <a:solidFill>
                  <a:srgbClr val="222222"/>
                </a:solidFill>
                <a:latin typeface="Consolas"/>
              </a:rPr>
              <a:t>BELIEF[rN]:  P={posterior}  |→  {action}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5A5A"/>
                </a:solidFill>
                <a:latin typeface="Calibri"/>
              </a:rPr>
              <a:t>Three routes out of the round: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00400"/>
            <a:ext cx="137160" cy="502920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onsolas"/>
              </a:rPr>
              <a:t>P &gt; 0.85   AND   DA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24612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→  exit to outcome delivery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40480"/>
            <a:ext cx="137160" cy="502920"/>
          </a:xfrm>
          <a:prstGeom prst="rect">
            <a:avLst/>
          </a:prstGeom>
          <a:solidFill>
            <a:srgbClr val="8A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862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onsolas"/>
              </a:rPr>
              <a:t>P  0.6–0.85   OR   DA FAIL   (round &lt; 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88620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→  loop back to Step 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80560"/>
            <a:ext cx="137160" cy="502920"/>
          </a:xfrm>
          <a:prstGeom prst="rect">
            <a:avLst/>
          </a:prstGeom>
          <a:solidFill>
            <a:srgbClr val="B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262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onsolas"/>
              </a:rPr>
              <a:t>P &lt; 0.6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52628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→  Toulmin debate (claim · grounds · warrant · backing · qualifier · rebuttal)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120640"/>
            <a:ext cx="137160" cy="50292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663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onsolas"/>
              </a:rPr>
              <a:t>Round ≥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516636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→  hard cap, exit anyway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989320"/>
            <a:ext cx="11064240" cy="502920"/>
          </a:xfrm>
          <a:prstGeom prst="rect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6035040"/>
            <a:ext cx="10698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If |declared − computed| &gt; 0.15 → divergence must be justified in workspace. No silent confidence drift.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CROSS-CHECKING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Peer verification: a ring + an adversary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Calibri"/>
              </a:rPr>
              <a:t>Each agent verifies the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next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 agent in the ring.  DA verifies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all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 of them.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Calibri"/>
              </a:rPr>
              <a:t>Every agent ends up verified by ≥2 others (one ring peer + DA).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5A5A5A"/>
                </a:solidFill>
                <a:latin typeface="Calibri"/>
              </a:rPr>
              <a:t>Mechanically enforced format: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11880"/>
            <a:ext cx="11064240" cy="64008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033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222222"/>
                </a:solidFill>
                <a:latin typeface="Consolas"/>
              </a:rPr>
              <a:t>### Peer Verification: {verifier} verifying {verified}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1F6B8A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A1A1A"/>
                </a:solidFill>
                <a:latin typeface="Calibri"/>
              </a:rPr>
              <a:t>Three hashes 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only — four hashes or "verifies" fail the chain regex (A16).</a:t>
            </a:r>
          </a:p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1F6B8A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A1A1A"/>
                </a:solidFill>
                <a:latin typeface="Calibri"/>
              </a:rPr>
              <a:t>≥3 specific artifact IDs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referenced (DB[], F[], XVERIFY[], H[]). "Looks good" fails A17.</a:t>
            </a:r>
          </a:p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1F6B8A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A1A1A"/>
                </a:solidFill>
                <a:latin typeface="Calibri"/>
              </a:rPr>
              <a:t>Per-item PASS / FAIL / N/A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verdicts with evidence — not narrative summaries.</a:t>
            </a:r>
          </a:p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1F6B8A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A1A1A"/>
                </a:solidFill>
                <a:latin typeface="Calibri"/>
              </a:rPr>
              <a:t>Coverage matrix verified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by chain evaluator A18: each agent verified by ≥2 others.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STEPS 25–38 · THE OUTCOME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Output without outcome is worthless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545336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Promotion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63624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Agents classify findings: auto-promote vs user-approve. Approved → global memory.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093976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Archive scratch workspace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112264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Copied to shared/archive/ with metadata. (59 files and counting.)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06040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60604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642616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Write plan 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660904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All sections populated. The plan is the LAST artifact, not the first.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54680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15468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191256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Synthesis (separate agent)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3209544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Lead is FORBIDDEN from writing synthesis — provenance contamination.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703320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7033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739896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Wiki compilation (separate agent)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3758183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Attribution per finding, conflicts flagged, never silent overwrites.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251959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251959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288536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Infrastructure sync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4306823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Diff installed vs repo. We've had 12 agent memories drift undetected.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800599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800599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4837175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Final archive + chain evaluator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4855463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19-item mechanical check before the review counts as complete.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349239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349239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5385815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Graceful shutdown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5404103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shutdown_request to each agent, 5-min auto-timeout for stragglers.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1F6B8A"/>
                </a:solidFill>
                <a:latin typeface="Calibri"/>
              </a:rPr>
              <a:t>Promotion + sync are the durable value. Skip them and agents start cold every session.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WHY EVERY STEP EXISTS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Skipping a step is not efficiency. It is a failure.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5A5A5A"/>
                </a:solidFill>
                <a:latin typeface="Calibri"/>
              </a:rPr>
              <a:t>Each step earned its slot in response to a documented failure: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Skipped gate checks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10312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→  herding went undetected for 7 reviews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Skipped convergence verification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→  empty findings passed as complete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2608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Skipped prompt understanding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92608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→  agents built the wrong thing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375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33756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Skipped plan challenge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33756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→  scope creep discovered at build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74904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490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Skipped checkpoint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74904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→  architectural drift caught too late to fix cheaply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1605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16052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Skipped anti-contamination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16052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→  lead bias leaked into "independent" analysis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57200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57200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Skipped promotion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457200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→  agent learnings lost · same mistakes repeated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9834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98348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Skipped sync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98348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→  12 agent memories drifted undetected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394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2A2A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39496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All phases in one conversation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39496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→  context degraded, DA never spawned, build shipped unchallenged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603504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1">
                <a:solidFill>
                  <a:srgbClr val="FFFFFF"/>
                </a:solidFill>
                <a:latin typeface="Calibri"/>
              </a:rPr>
              <a:t>Completeness IS the product.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This isn't a deck. It's operating data.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257800" cy="21945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4709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1F6B8A"/>
                </a:solidFill>
                <a:latin typeface="Calibri"/>
              </a:rPr>
              <a:t>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78892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C4A"/>
                </a:solidFill>
                <a:latin typeface="Calibri"/>
              </a:rPr>
              <a:t>archived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54680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5A5A"/>
                </a:solidFill>
                <a:latin typeface="Calibri"/>
              </a:rPr>
              <a:t>agent-infrastructure/teams/sigma-review/shared/archive/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554480"/>
            <a:ext cx="5257800" cy="21945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37360"/>
            <a:ext cx="4709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1F6B8A"/>
                </a:solidFill>
                <a:latin typeface="Calibri"/>
              </a:rPr>
              <a:t>1,054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78892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C4A"/>
                </a:solidFill>
                <a:latin typeface="Calibri"/>
              </a:rPr>
              <a:t>tests across 3 Python 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3154680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5A5A"/>
                </a:solidFill>
                <a:latin typeface="Calibri"/>
              </a:rPr>
              <a:t>validated by CI on every commit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23360"/>
            <a:ext cx="5257800" cy="21945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4206240"/>
            <a:ext cx="4709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1F6B8A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52578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C4A"/>
                </a:solidFill>
                <a:latin typeface="Calibri"/>
              </a:rPr>
              <a:t>agents on the active roster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5623560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5A5A"/>
                </a:solidFill>
                <a:latin typeface="Calibri"/>
              </a:rPr>
              <a:t>all markdown · zero infrastructure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5257800" cy="21945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206240"/>
            <a:ext cx="4709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1F6B8A"/>
                </a:solidFill>
                <a:latin typeface="Calibri"/>
              </a:rPr>
              <a:t>531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52578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C4A"/>
                </a:solidFill>
                <a:latin typeface="Calibri"/>
              </a:rPr>
              <a:t>lines in patterns.md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5623560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5A5A"/>
                </a:solidFill>
                <a:latin typeface="Calibri"/>
              </a:rPr>
              <a:t>grew from 142 (Review 6) → 531 (Review 59) · 3.7×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A5A5A"/>
                </a:solidFill>
                <a:latin typeface="Calibri"/>
              </a:rPr>
              <a:t>All numbers in this deck are validated against live code by validate-docs.sh in CI.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2C4A"/>
                </a:solidFill>
                <a:latin typeface="Calibri"/>
              </a:rPr>
              <a:t>Where to learn more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2C4A"/>
                </a:solidFill>
                <a:latin typeface="Consolas"/>
              </a:rPr>
              <a:t>github.com/coloradored13/sigma-system-overview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5A5A5A"/>
                </a:solidFill>
                <a:latin typeface="Calibri"/>
              </a:rPr>
              <a:t>Read these in order: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6B8A"/>
                </a:solidFill>
                <a:latin typeface="Calibri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7121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onsolas"/>
              </a:rPr>
              <a:t>README.md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88950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system overview · components · stats · what's novel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6B8A"/>
                </a:solidFill>
                <a:latin typeface="Calibr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2841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onsolas"/>
              </a:rPr>
              <a:t>ARCHITECTURE.md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334670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full system design · review history · observed 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49039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6B8A"/>
                </a:solidFill>
                <a:latin typeface="Calibri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856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onsolas"/>
              </a:rPr>
              <a:t>INTERFACES.md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803903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MCP tool surfaces · dependency chain · breaking-change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062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6B8A"/>
                </a:solidFill>
                <a:latin typeface="Calibr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4281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onsolas"/>
              </a:rPr>
              <a:t>SETUP.md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261103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install · MCP config · two-tier memory · 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6634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6B8A"/>
                </a:solidFill>
                <a:latin typeface="Calibri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0001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onsolas"/>
              </a:rPr>
              <a:t>case-study/REVIEW-6-WALKTHROUGH.md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718303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the documented first run · peer-correction story · ΣComm artifacts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1206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6B8A"/>
                </a:solidFill>
                <a:latin typeface="Calibri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15721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onsolas"/>
              </a:rPr>
              <a:t>agent-infrastructure/teams/sigma-review/shared/archive/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175503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59 real review workspaces · each one a complete chain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98932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42C4A"/>
                </a:solidFill>
                <a:latin typeface="Consolas"/>
              </a:rPr>
              <a:t>Three submodules:  hateoas-agent  ·  sigma-mem  ·  sigma-verify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457200" cy="73152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Output without outcome</a:t>
            </a:r>
          </a:p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is worthless.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93776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CDDE8"/>
                </a:solidFill>
                <a:latin typeface="Calibri"/>
              </a:rPr>
              <a:t>24 steps to produce the analysis. 14 more to make it compound.</a:t>
            </a:r>
          </a:p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CDDE8"/>
                </a:solidFill>
                <a:latin typeface="Calibri"/>
              </a:rPr>
              <a:t>The plan file is the LAST artifact written, not the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F6B8A"/>
                </a:solidFill>
                <a:latin typeface="Calibri"/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
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The Sigma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CCDDE8"/>
                </a:solidFill>
                <a:latin typeface="Calibri"/>
              </a:rPr>
              <a:t>How a multi-agent review actually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5216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9AEBE"/>
                </a:solidFill>
                <a:latin typeface="Calibri"/>
              </a:rPr>
              <a:t>AI Guild · Engineering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Make the wrong choice impossible.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LLMs guess which of N tools to call. We don't.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Agent starts with one gateway tool. Each response advertises exactly which actions are valid for the current state.</a:t>
            </a:r>
          </a:p>
          <a:p>
            <a:pPr algn="l">
              <a:lnSpc>
                <a:spcPct val="140000"/>
              </a:lnSpc>
            </a:pPr>
            <a:r>
              <a:rPr sz="1600" b="1" i="0">
                <a:solidFill>
                  <a:srgbClr val="1F6B8A"/>
                </a:solidFill>
                <a:latin typeface="Calibri"/>
              </a:rPr>
              <a:t>The server decides what's valid. Not the LLM.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3505200" cy="23774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57600"/>
            <a:ext cx="3505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313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C4A"/>
                </a:solidFill>
                <a:latin typeface="Consolas"/>
              </a:rPr>
              <a:t>hateoas-agent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onsolas"/>
              </a:rPr>
              <a:t>3,354 LOC · 452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313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Declarative state machines. Three API styles. MCP adapter.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8160" y="3657600"/>
            <a:ext cx="3505200" cy="23774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8160" y="3657600"/>
            <a:ext cx="3505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40" y="3840480"/>
            <a:ext cx="313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C4A"/>
                </a:solidFill>
                <a:latin typeface="Consolas"/>
              </a:rPr>
              <a:t>sigma-mem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40" y="425196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memory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1040" y="461772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onsolas"/>
              </a:rPr>
              <a:t>2,672 LOC · 302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5029200"/>
            <a:ext cx="313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Memory retrieval as a HATEOAS state machine. recall(context) → actions.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3657600"/>
            <a:ext cx="3505200" cy="23774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3657600"/>
            <a:ext cx="3505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0560" y="3840480"/>
            <a:ext cx="313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C4A"/>
                </a:solidFill>
                <a:latin typeface="Consolas"/>
              </a:rPr>
              <a:t>sigma-verify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0560" y="425196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verify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0560" y="4617720"/>
            <a:ext cx="313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onsolas"/>
              </a:rPr>
              <a:t>1,776 LOC · 300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5029200"/>
            <a:ext cx="313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Stress-test findings against alternative models. Quota-aware.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Today: zoom past the framework. Show you how a multi-agent review actually runs on top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ΣComm — how the agents talk to each other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Format:  </a:t>
            </a:r>
            <a:r>
              <a:rPr sz="1400" b="1" i="0">
                <a:solidFill>
                  <a:srgbClr val="1A1A1A"/>
                </a:solidFill>
                <a:latin typeface="Consolas"/>
              </a:rPr>
              <a:t>[STATUS] BODY |¬ ruled-out |→ actions |#count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  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¬</a:t>
            </a:r>
            <a:r>
              <a:rPr sz="1300" b="0" i="0">
                <a:solidFill>
                  <a:srgbClr val="5A5A5A"/>
                </a:solidFill>
                <a:latin typeface="Calibri"/>
              </a:rPr>
              <a:t> anti-message ·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→</a:t>
            </a:r>
            <a:r>
              <a:rPr sz="1300" b="0" i="0">
                <a:solidFill>
                  <a:srgbClr val="5A5A5A"/>
                </a:solidFill>
                <a:latin typeface="Calibri"/>
              </a:rPr>
              <a:t> next-action · </a:t>
            </a:r>
            <a:r>
              <a:rPr sz="1400" b="1" i="0">
                <a:solidFill>
                  <a:srgbClr val="1F6B8A"/>
                </a:solidFill>
                <a:latin typeface="Consolas"/>
              </a:rPr>
              <a:t>#</a:t>
            </a:r>
            <a:r>
              <a:rPr sz="1300" b="0" i="0">
                <a:solidFill>
                  <a:srgbClr val="5A5A5A"/>
                </a:solidFill>
                <a:latin typeface="Calibri"/>
              </a:rPr>
              <a:t> checksum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An actual peer-correction message from Review 6 (2026-03-07):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6B8A"/>
                </a:solidFill>
                <a:latin typeface="Consolas"/>
              </a:rPr>
              <a:t>tech-architect → product-strategist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1064240" cy="210312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107899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◌ dist/-not-empty: you noted "dist/ directory empty" but it has stale 0.1.0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wheel+tarball from pre-change build. .gitignore excludes from git tracking.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Needs rm -rf dist/ before fresh build. Minor correction to your prereq status.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222222"/>
                </a:solidFill>
                <a:latin typeface="Consolas"/>
              </a:rPr>
              <a:t>  |¬ not a new blocker, just a factual correction |→ update prereq note |#1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One agent caught a peer's factual error, cited evidence, declared what it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wasn't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claiming, advertised the next action, checksummed the count.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Nobody coded peer-correction-with-anti-message. It </a:t>
            </a:r>
            <a:r>
              <a:rPr sz="1400" b="1" i="1">
                <a:solidFill>
                  <a:srgbClr val="1F6B8A"/>
                </a:solidFill>
                <a:latin typeface="Calibri"/>
              </a:rPr>
              <a:t>emerged</a:t>
            </a:r>
            <a:r>
              <a:rPr sz="1400" b="1" i="0">
                <a:solidFill>
                  <a:srgbClr val="1A1A1A"/>
                </a:solidFill>
                <a:latin typeface="Calibri"/>
              </a:rPr>
              <a:t> from the protocol.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SHAPE OF A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A sigma-review is a 38-step recipe. Not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6949440" cy="50292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675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6B8A"/>
                </a:solidFill>
                <a:latin typeface="Calibri"/>
              </a:rPr>
              <a:t>Steps 1–24 ·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417320"/>
            <a:ext cx="4023360" cy="50292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463040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6B470A"/>
                </a:solidFill>
                <a:latin typeface="Calibri"/>
              </a:rPr>
              <a:t>Steps 25–38 · 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11064240" cy="5943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79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PREFLIGHT  1–9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40279"/>
            <a:ext cx="7498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memory · validate · roster · complexity · route · confirm · PREMISE-AUDIT · prompt-Q/H/C · 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80360"/>
            <a:ext cx="11064240" cy="5943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26079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SPAWN + R1  10–17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926079"/>
            <a:ext cx="7498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TeamCreate · monitor · pre-accept · XVERIFY · wait · coherence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66160"/>
            <a:ext cx="11064240" cy="5943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11879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ADVERSARIAL  18–23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611879"/>
            <a:ext cx="7498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spawn DA (opus) · challenge round · CIRCUIT BREAKER · validate · respond · validate round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11064240" cy="5943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976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alibri"/>
              </a:rPr>
              <a:t>EXIT GATE 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297680"/>
            <a:ext cx="7498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BELIEF[rN]: P=posterior |→ action     ·    P&gt;0.85 + DA PASS = exit · else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37760"/>
            <a:ext cx="11064240" cy="59436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9834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B470A"/>
                </a:solidFill>
                <a:latin typeface="Calibri"/>
              </a:rPr>
              <a:t>OUTCOME CHAIN  25–38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983480"/>
            <a:ext cx="7498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plan-lock · PROMOTION · synthesis (separate agent) · wiki compilation · infra sync · archive · shutdown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5A5A5A"/>
                </a:solidFill>
                <a:latin typeface="Calibri"/>
              </a:rPr>
              <a:t>Each step's output feeds the next. Skip a step and the chain breaks — even if every other item is technically present.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1–9 · PREMISE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Preflight: stop agents from anchoring on bad premises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A5A5A"/>
                </a:solidFill>
                <a:latin typeface="Calibri"/>
              </a:rPr>
              <a:t>Steps 1–7 are the usual: memory recall, system check, roster, complexity tier, route, user confirm.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Step 7a is the one that's different.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1064240" cy="292608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37160" cy="292608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C4A"/>
                </a:solidFill>
                <a:latin typeface="Calibri"/>
              </a:rPr>
              <a:t>Step 7a · PREMISE-AUDIT (HARD GATE §2p)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A1A1A"/>
                </a:solidFill>
                <a:latin typeface="Calibri"/>
              </a:rPr>
              <a:t>Lead answers four structural tests from the user prompt ALONE — before re-reading the user's proposed framing.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00400"/>
            <a:ext cx="10515600" cy="13716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91840"/>
            <a:ext cx="102412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PA[1]  tier-necessity   — is the proposed tier NECESSARY or is simpler structure adequate?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PA[2]  firm-size-floor  — minimum viable org? (state explicitly)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PA[3]  data-readiness   — what data must exist for findings to be actionable?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PA[4]  adoption-baseline — RC[class]=rate | above/at/below base-rate?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→  proceed-with-H | revise-H-space(N) | flag-premise(N)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2A2A"/>
                </a:solidFill>
                <a:latin typeface="Calibri"/>
              </a:rPr>
              <a:t>CHALLENGED on PA[1] or PA[2] → revise scope BEFORE spawning agents.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486400"/>
            <a:ext cx="10698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Why: "premises accepted as frame before H[] dispatch" — documented anti-pattern from R19 evaluator. Chain evaluator BLOCKs the run if the `## premise-audit-results` section is missing.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Step 8 (prompt understanding) and Step 9 (cost estimate) close out preflight before any agent spawns.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10–17 · THE RESEARCH 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R1: independent research + zero-dissent circuit breaker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 work in parallel. Every finding must be tagged.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ON EVERY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5486400" cy="2194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|source:independent-research    ← who/what produced it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|source:agent-inference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|source:prompt-claim             ← echo, needs corroboration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T1  primary, current, named source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T2  reputable secondary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T3  inference or stale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DB[N]  dialectical-bootstrap: 5-step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      structure arguing AGAINST own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02A2A"/>
                </a:solidFill>
                <a:latin typeface="Calibri"/>
              </a:rPr>
              <a:t>ZERO-DISSENT CIRCUIT BREAKER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148840"/>
            <a:ext cx="5257800" cy="21945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402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Lead scans R1 for ANY inter-agent tension.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Zero divergence → fires self-challenge: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CB[1]  strongest counter to your finding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CB[2]  one peer finding you'd challenge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CB[3]  self-assessed blind spot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22222"/>
                </a:solidFill>
                <a:latin typeface="Consolas"/>
              </a:rPr>
              <a:t>Success: ≥1 revision + ≥2 surfaced tensions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Pattern detected across 7 consecutive prior reviews: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"Independent domain experts producing 0 disagreements across 50-70+ findings = herding signal.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Self-challenge BEFORE DA pressure produces more genuine analytical tension than waiting for external challenge."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onsolas"/>
              </a:rPr>
              <a:t>Step 17 closes R1 with BELIEF[r1]: P={posterior} |→ {action} written to workspace.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18–23 · THE CHALLENGE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Adversarial round: DA controls synthesis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Devil's Advocate runs on opus, the rest of the team on sonnet.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DA does NOT research during R1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— only researches counter-evidence after reading the workspace (anti-anchoring).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C4A"/>
                </a:solidFill>
                <a:latin typeface="Calibri"/>
              </a:rPr>
              <a:t>Every agent responds inline to every DA challenge: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11064240" cy="777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222222"/>
                </a:solidFill>
                <a:latin typeface="Consolas"/>
              </a:rPr>
              <a:t>DA[#3]:  concede | defend | compromise  —  [evidence/citation]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C4A"/>
                </a:solidFill>
                <a:latin typeface="Calibri"/>
              </a:rPr>
              <a:t>Beyond standard challenges, DA enforces the CQoT triplet on every high-conviction finding (&gt;70%):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94760"/>
            <a:ext cx="137160" cy="68580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FALSIFIABILITY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"IF [evidence] THEN [revision]"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840480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A5A5A"/>
                </a:solidFill>
                <a:latin typeface="Calibri"/>
              </a:rPr>
              <a:t>DA checks: is the falsification condition reachable, or engineered to be unreachable?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17720"/>
            <a:ext cx="137160" cy="68580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17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STEELMAN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"STEELMAN[H]: best-opposing |fails-because: [evidence]"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663440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A5A5A"/>
                </a:solidFill>
                <a:latin typeface="Calibri"/>
              </a:rPr>
              <a:t>DA checks: genuine steel-man, or a strawman with a better label?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40680"/>
            <a:ext cx="137160" cy="68580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CONFIDENCE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6072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onsolas"/>
              </a:rPr>
              <a:t>"CONF-GAP[F]: current=N% |need-for-90%: [evidence-type]"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486400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A5A5A"/>
                </a:solidFill>
                <a:latin typeface="Calibri"/>
              </a:rPr>
              <a:t>DA checks: is the missing evidence obtainable, or is the claim unfalsifiable?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400800"/>
            <a:ext cx="10698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02A2A"/>
                </a:solidFill>
                <a:latin typeface="Calibri"/>
              </a:rPr>
              <a:t>Step 22 SESSION-KILLER: 2026-04-16, user killed a 3-hour build session because the lead routed content between agents.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THE DA EXIT-GATE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9 criteria · ALL must hold for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4356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Engagement quality ≥ B across all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928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 material disagreements unresolved (or logged in decisions.md)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 new consensus formed in latest round without stress-test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889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889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07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Analytical hygiene §2a-e produced substantive outcomes (not perfunctory)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46120"/>
            <a:ext cx="502920" cy="36576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Source quality tiers T1/T2/T3 tagged on load-bearing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03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216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Prompt contamination ≤30% — no 3+ agents echoing the same prompt claim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1605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788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CQoT falsifiability check passed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177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6177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6360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CQoT steelman check 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749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0932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CQoT confidence-gap check passed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2120"/>
            <a:ext cx="502920" cy="365760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5321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6B8A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550407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XVERIFY coverage on load-bearing findings (if sigma-verify online)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080759"/>
            <a:ext cx="11064240" cy="59436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6126480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You control synthesis timing — not agents, not the lead. FAIL specifies which criteria failed and what the next round must address.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 24 · HARD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The exit math · BELIEF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64240" cy="7772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>
                <a:solidFill>
                  <a:srgbClr val="222222"/>
                </a:solidFill>
                <a:latin typeface="Consolas"/>
              </a:rPr>
              <a:t>BELIEF[rN]:  P={posterior}  |→  {action}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Four routes out of the round: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26080"/>
            <a:ext cx="137160" cy="548640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809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P &gt; 0.85   AND   DA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971800"/>
            <a:ext cx="6126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→  exit to outcome delivery (Steps 25+)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137160" cy="548640"/>
          </a:xfrm>
          <a:prstGeom prst="rect">
            <a:avLst/>
          </a:prstGeom>
          <a:solidFill>
            <a:srgbClr val="8A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P 0.6–0.85   OR   DA FAIL   (round &lt;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657600"/>
            <a:ext cx="6126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→  loop back to Step 19 — another challenge 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97680"/>
            <a:ext cx="137160" cy="548640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P &lt;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343400"/>
            <a:ext cx="6126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→  Toulmin debate: claim · grounds · warrant · backing · qualifier · rebuttal · then return to challenge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83480"/>
            <a:ext cx="137160" cy="5486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383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onsolas"/>
              </a:rPr>
              <a:t>Round ≥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029200"/>
            <a:ext cx="6126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→  hard cap — proceed to pre-synthesis checks regardless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943600"/>
            <a:ext cx="11064240" cy="77724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03504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Belief-divergence floor: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if |declared − computed| &gt; 0.15, the divergence must be justified in workspace.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CCDDE8"/>
                </a:solidFill>
                <a:latin typeface="Calibri"/>
              </a:rPr>
              <a:t>Agents can't declare confidence that contradicts the computed posterior. No silent confidence drift.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CROSS-CHECKING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Peer verification: a ring + an adversary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 flipV="1">
            <a:off x="886586" y="644142"/>
            <a:ext cx="3341240" cy="2222606"/>
          </a:xfrm>
          <a:prstGeom prst="line">
            <a:avLst/>
          </a:prstGeom>
          <a:ln w="19050">
            <a:solidFill>
              <a:srgbClr val="1F6B8A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-338645" y="1042244"/>
            <a:ext cx="5635937" cy="3031493"/>
          </a:xfrm>
          <a:prstGeom prst="line">
            <a:avLst/>
          </a:prstGeom>
          <a:ln w="19050">
            <a:solidFill>
              <a:srgbClr val="1F6B8A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-1095880" y="0"/>
            <a:ext cx="5575740" cy="5463840"/>
          </a:xfrm>
          <a:prstGeom prst="line">
            <a:avLst/>
          </a:prstGeom>
          <a:ln w="19050">
            <a:solidFill>
              <a:srgbClr val="1F6B8A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-338645" y="-1042244"/>
            <a:ext cx="3243838" cy="6158226"/>
          </a:xfrm>
          <a:prstGeom prst="line">
            <a:avLst/>
          </a:prstGeom>
          <a:ln w="19050">
            <a:solidFill>
              <a:srgbClr val="1F6B8A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886586" y="-644142"/>
            <a:ext cx="1862841" cy="4155032"/>
          </a:xfrm>
          <a:prstGeom prst="line">
            <a:avLst/>
          </a:prstGeom>
          <a:ln w="19050">
            <a:solidFill>
              <a:srgbClr val="1F6B8A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611879" y="2331719"/>
            <a:ext cx="640080" cy="640080"/>
          </a:xfrm>
          <a:prstGeom prst="ellipse">
            <a:avLst/>
          </a:prstGeom>
          <a:solidFill>
            <a:srgbClr val="F6F8FB"/>
          </a:solidFill>
          <a:ln w="12700">
            <a:solidFill>
              <a:srgbClr val="1F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331719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C4A"/>
                </a:solidFill>
                <a:latin typeface="Consolas"/>
              </a:rPr>
              <a:t>TA</a:t>
            </a:r>
          </a:p>
        </p:txBody>
      </p:sp>
      <p:sp>
        <p:nvSpPr>
          <p:cNvPr id="12" name="Oval 11"/>
          <p:cNvSpPr/>
          <p:nvPr/>
        </p:nvSpPr>
        <p:spPr>
          <a:xfrm>
            <a:off x="5090278" y="3405839"/>
            <a:ext cx="640080" cy="640080"/>
          </a:xfrm>
          <a:prstGeom prst="ellipse">
            <a:avLst/>
          </a:prstGeom>
          <a:solidFill>
            <a:srgbClr val="F6F8FB"/>
          </a:solidFill>
          <a:ln w="12700">
            <a:solidFill>
              <a:srgbClr val="1F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278" y="3405839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C4A"/>
                </a:solidFill>
                <a:latin typeface="Consolas"/>
              </a:rPr>
              <a:t>PS</a:t>
            </a:r>
          </a:p>
        </p:txBody>
      </p:sp>
      <p:sp>
        <p:nvSpPr>
          <p:cNvPr id="14" name="Oval 13"/>
          <p:cNvSpPr/>
          <p:nvPr/>
        </p:nvSpPr>
        <p:spPr>
          <a:xfrm>
            <a:off x="4525580" y="5143800"/>
            <a:ext cx="640080" cy="640080"/>
          </a:xfrm>
          <a:prstGeom prst="ellipse">
            <a:avLst/>
          </a:prstGeom>
          <a:solidFill>
            <a:srgbClr val="F6F8FB"/>
          </a:solidFill>
          <a:ln w="12700">
            <a:solidFill>
              <a:srgbClr val="1F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5580" y="51438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C4A"/>
                </a:solidFill>
                <a:latin typeface="Consolas"/>
              </a:rPr>
              <a:t>UR</a:t>
            </a:r>
          </a:p>
        </p:txBody>
      </p:sp>
      <p:sp>
        <p:nvSpPr>
          <p:cNvPr id="16" name="Oval 15"/>
          <p:cNvSpPr/>
          <p:nvPr/>
        </p:nvSpPr>
        <p:spPr>
          <a:xfrm>
            <a:off x="2698179" y="5143800"/>
            <a:ext cx="640080" cy="640080"/>
          </a:xfrm>
          <a:prstGeom prst="ellipse">
            <a:avLst/>
          </a:prstGeom>
          <a:solidFill>
            <a:srgbClr val="F6F8FB"/>
          </a:solidFill>
          <a:ln w="12700">
            <a:solidFill>
              <a:srgbClr val="1F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8179" y="514380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C4A"/>
                </a:solidFill>
                <a:latin typeface="Consolas"/>
              </a:rPr>
              <a:t>CQA</a:t>
            </a:r>
          </a:p>
        </p:txBody>
      </p:sp>
      <p:sp>
        <p:nvSpPr>
          <p:cNvPr id="18" name="Oval 17"/>
          <p:cNvSpPr/>
          <p:nvPr/>
        </p:nvSpPr>
        <p:spPr>
          <a:xfrm>
            <a:off x="2133481" y="3405839"/>
            <a:ext cx="640080" cy="640080"/>
          </a:xfrm>
          <a:prstGeom prst="ellipse">
            <a:avLst/>
          </a:prstGeom>
          <a:solidFill>
            <a:srgbClr val="F6F8FB"/>
          </a:solidFill>
          <a:ln w="12700">
            <a:solidFill>
              <a:srgbClr val="1F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481" y="3405839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C4A"/>
                </a:solidFill>
                <a:latin typeface="Consolas"/>
              </a:rPr>
              <a:t>TW</a:t>
            </a:r>
          </a:p>
        </p:txBody>
      </p:sp>
      <p:sp>
        <p:nvSpPr>
          <p:cNvPr id="20" name="Oval 19"/>
          <p:cNvSpPr/>
          <p:nvPr/>
        </p:nvSpPr>
        <p:spPr>
          <a:xfrm>
            <a:off x="3474720" y="3749039"/>
            <a:ext cx="914400" cy="914400"/>
          </a:xfrm>
          <a:prstGeom prst="ellipse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3749039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</a:rPr>
              <a:t>DA</a:t>
            </a:r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0" y="-685800"/>
            <a:ext cx="3931920" cy="4389120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652234" y="-211923"/>
            <a:ext cx="3757991" cy="4262752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403103" y="554823"/>
            <a:ext cx="3824425" cy="4058287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-403103" y="554823"/>
            <a:ext cx="4039414" cy="4058287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-652234" y="-211923"/>
            <a:ext cx="4105848" cy="4262752"/>
          </a:xfrm>
          <a:prstGeom prst="line">
            <a:avLst/>
          </a:prstGeom>
          <a:ln w="9525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0" y="14630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RING 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1828800"/>
            <a:ext cx="3931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Each agent verifies the next agent in the ring.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DA verifies all of them.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Every agent ends up verified by ≥2 others (one ring peer + DA).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2976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CHAIN EVALUATOR REGEX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617720"/>
            <a:ext cx="3931920" cy="14630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470916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22222"/>
                </a:solidFill>
                <a:latin typeface="Consolas"/>
              </a:rPr>
              <a:t>^### Peer Verification: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222222"/>
                </a:solidFill>
                <a:latin typeface="Consolas"/>
              </a:rPr>
              <a:t>\s*(\S+)\s+verifying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222222"/>
                </a:solidFill>
                <a:latin typeface="Consolas"/>
              </a:rPr>
              <a:t>\s+(\S+)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222222"/>
                </a:solidFill>
                <a:latin typeface="Consolas"/>
              </a:rPr>
              <a:t>4-hash or "verifies" = FAIL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5A5A"/>
                </a:solidFill>
                <a:latin typeface="Calibri"/>
              </a:rPr>
              <a:t>Each verification must cite ≥3 specific artifact IDs (DB[], F[], XVERIFY[], H[]) with per-item PASS/FAIL/N/A verdicts. "Looks good" fails A17.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MECHANICAL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The chain evaluator runs at session end · 19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46304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Agent findings non-empty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6596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Source provenance tags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6888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Dialectical bootstrap DB[]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7180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Circuit breaker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47472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DA challenges + responses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3192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977639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BELIEF state computed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3484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480559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Exit-gate PASS/FAIL with criteria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160" y="141732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8160" y="141732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5400" y="146304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Contamination check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8160" y="192024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28160" y="192024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5400" y="196596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Source provenance audit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8160" y="242316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8160" y="242316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5400" y="246888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Anti-sycophancy check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8160" y="292608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8160" y="292608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5400" y="297180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Synthesis artifact in archive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8160" y="342900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8160" y="342900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5400" y="347472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Workspace archived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8160" y="393192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28160" y="393192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5400" y="3977639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Promotion evidence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8160" y="443484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28160" y="443484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05400" y="4480559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Git clean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07680" y="141732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07680" y="141732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4920" y="146304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XVERIFY coverage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07680" y="192024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07680" y="192024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4920" y="196596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Peer verification sections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7680" y="242316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7680" y="242316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84920" y="246888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Verification specificity (≥3 IDs)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7680" y="292608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7680" y="292608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4920" y="297180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Coverage matrix (≥2 verifiers)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07680" y="3429000"/>
            <a:ext cx="640080" cy="384048"/>
          </a:xfrm>
          <a:prstGeom prst="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07680" y="3429000"/>
            <a:ext cx="640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F6B8A"/>
                </a:solidFill>
                <a:latin typeface="Consolas"/>
              </a:rPr>
              <a:t>A19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84920" y="3474720"/>
            <a:ext cx="2727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Chain evaluation output written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5852160"/>
            <a:ext cx="11064240" cy="86868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94360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If any FAIL: the chain is incomplete.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Stop hook writes results to workspace as </a:t>
            </a:r>
            <a:r>
              <a:rPr sz="1300" b="0" i="0">
                <a:solidFill>
                  <a:srgbClr val="FFFFFF"/>
                </a:solidFill>
                <a:latin typeface="Consolas"/>
              </a:rPr>
              <a:t>## Chain Evaluation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— its absence is itself a failed item (A19).</a:t>
            </a:r>
          </a:p>
          <a:p>
            <a:pPr algn="l">
              <a:lnSpc>
                <a:spcPct val="150000"/>
              </a:lnSpc>
            </a:pPr>
            <a:r>
              <a:rPr sz="1100" b="0" i="1">
                <a:solidFill>
                  <a:srgbClr val="CCDDE8"/>
                </a:solidFill>
                <a:latin typeface="Consolas"/>
              </a:rPr>
              <a:t>Source: ~/.claude/hooks/chain-evaluator.py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B8A"/>
                </a:solidFill>
                <a:latin typeface="Calibri"/>
              </a:rPr>
              <a:t>STEPS 25–38 · THE OUTCOME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C4A"/>
                </a:solidFill>
                <a:latin typeface="Calibri"/>
              </a:rPr>
              <a:t>The 14 steps that make it compound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98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“The analysis is the OUTPUT. Promotion, archive, synthesis are the OUTCOME. Output without outcome is worthless.”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Promotion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02082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Agents classify findings — auto-promote vs user-approve. Approved → global memory.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5117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Archive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56946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Copied to shared/archive/ with metadata. 59 files and counting.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63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Synthesis (separate 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11810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Lead is FORBIDDEN from writing synthesis. Provenance contamination.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4845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Wiki compilation (separate agent)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666744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Attribution per finding. ⚠ CONFLICT on contradictions. Never silent overwrites.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1605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197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Infrastructure sync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1538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Diff installed vs repo. 12 agent memories drifted undetected, once.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0915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5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7457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Final archive + chain evaluator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76402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19-item mechanical check before the review counts as complete.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257799"/>
            <a:ext cx="548640" cy="457200"/>
          </a:xfrm>
          <a:prstGeom prst="rect">
            <a:avLst/>
          </a:prstGeom>
          <a:solidFill>
            <a:srgbClr val="F2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257799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470A"/>
                </a:solidFill>
                <a:latin typeface="Calibri"/>
              </a:rPr>
              <a:t>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29437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Graceful shutdown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5312663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Calibri"/>
              </a:rPr>
              <a:t>shutdown_request to each agent. 5-min auto-timeout for stragglers.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1" i="1">
                <a:solidFill>
                  <a:srgbClr val="1F6B8A"/>
                </a:solidFill>
                <a:latin typeface="Calibri"/>
              </a:rPr>
              <a:t>Promotion + sync are the durable value.</a:t>
            </a:r>
          </a:p>
          <a:p>
            <a:pPr algn="ctr">
              <a:lnSpc>
                <a:spcPct val="140000"/>
              </a:lnSpc>
            </a:pPr>
            <a:r>
              <a:rPr sz="1300" b="1" i="1">
                <a:solidFill>
                  <a:srgbClr val="1F6B8A"/>
                </a:solidFill>
                <a:latin typeface="Calibri"/>
              </a:rPr>
              <a:t>Skip them and agents start cold every session — same mistakes, every time.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94560"/>
            <a:ext cx="457200" cy="73152"/>
          </a:xfrm>
          <a:prstGeom prst="rect">
            <a:avLst/>
          </a:prstGeom>
          <a:solidFill>
            <a:srgbClr val="1F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24 steps to produce the analysis.</a:t>
            </a:r>
          </a:p>
          <a:p>
            <a:pPr algn="l">
              <a:lnSpc>
                <a:spcPct val="12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14 more to make it compound.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572000"/>
            <a:ext cx="1106424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CCDDE8"/>
                </a:solidFill>
                <a:latin typeface="Calibri"/>
              </a:rPr>
              <a:t>59 archived reviews  ·  1,054 tests  ·  22 agents on the active roster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F6B8A"/>
                </a:solidFill>
                <a:latin typeface="Consolas"/>
              </a:rPr>
              <a:t>github.com/coloradored13/sigma-system-overview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